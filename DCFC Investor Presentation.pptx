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150 kW DC Fast Charger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000" b="0">
                <a:solidFill>
                  <a:srgbClr val="0096E0"/>
                </a:solidFill>
                <a:latin typeface="Calibri"/>
              </a:defRPr>
            </a:pPr>
            <a:r>
              <a:t>Modular, Open-Source, SiC-Based EV Charging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657600"/>
            <a:ext cx="251460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300" b="1">
                <a:solidFill>
                  <a:srgbClr val="0096E0"/>
                </a:solidFill>
                <a:latin typeface="Calibri"/>
              </a:defRPr>
            </a:pPr>
            <a:r>
              <a:t>In-House Power Electronics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30 kW SiC modules (Rev 0.7)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3657600"/>
            <a:ext cx="251460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300" b="1">
                <a:solidFill>
                  <a:srgbClr val="0096E0"/>
                </a:solidFill>
                <a:latin typeface="Calibri"/>
              </a:defRPr>
            </a:pPr>
            <a:r>
              <a:t>Open-Source Software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EVerest (Linux Foundation Energy)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657600"/>
            <a:ext cx="251460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300" b="1">
                <a:solidFill>
                  <a:srgbClr val="0096E0"/>
                </a:solidFill>
                <a:latin typeface="Calibri"/>
              </a:defRPr>
            </a:pPr>
            <a:r>
              <a:t>400V &amp; 800V Compatible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150–1000 VDC output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3657600"/>
            <a:ext cx="251460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300" b="1">
                <a:solidFill>
                  <a:srgbClr val="0096E0"/>
                </a:solidFill>
                <a:latin typeface="Calibri"/>
              </a:defRPr>
            </a:pPr>
            <a:r>
              <a:t>Scalable Platform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50 kW to 350 kW configurations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98"/>
                </a:solidFill>
                <a:latin typeface="Calibri"/>
              </a:defRPr>
            </a:pPr>
            <a:r>
              <a:t>Technical Investor Presentation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Global DC Fast Charging Infrastructure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96E0"/>
                </a:solidFill>
                <a:latin typeface="Calibri"/>
              </a:defRPr>
            </a:pPr>
            <a:r>
              <a:t>~17M units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Global EV Sales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~2.4M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DCFCs Needed by 2030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8016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FF8F00"/>
                </a:solidFill>
                <a:latin typeface="Calibri"/>
              </a:defRPr>
            </a:pPr>
            <a:r>
              <a:t>$30K–$60K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Avg Commercial Price (150kW)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128016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$21,500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Our BOM @100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11064240" cy="109728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52400"/>
          <a:lstStyle/>
          <a:p>
            <a:pPr algn="l">
              <a:defRPr sz="1100" b="1">
                <a:solidFill>
                  <a:srgbClr val="0096E0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Most DCFC manufacturers use proprietary, vertically integrated software stacks. Our open-source EVerest approach eliminates software licensing costs ($2,000–$5,000/unit for competitors) and vendor lock-in while accelerating time-to-market.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9319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  <a:gridCol w="2834640"/>
              </a:tblGrid>
              <a:tr h="45720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Units/Year (est.)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ASP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TAM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Highway Corridors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200,000+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$35K–$50K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$7B–$10B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Urban Charging Hubs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300,000+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$30K–$45K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$9B–$13B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Fleet / Depot Charging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150,000+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$35K–$60K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$5B–$9B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Destination / Retail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100,000+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$25K–$40K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$2.5B–$4B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150 kW CCS2 DC Fast Charger — Key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386861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Specification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AC Input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3-phase 400–480 Vac, 50/60 Hz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DC Output Voltage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150–1000 VDC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DC Output Current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Up to 500 A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Maximum Power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 kW (5× 30 kW modules)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Peak Efficiency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&gt;96% (SiC-based)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Power Factor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&gt;0.99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Connector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CCS Combo 2 (CCS1 optional)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Charging Time (80%)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400V: 20–30 min  ·  800V: 15–20 min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Software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EVerest (Linux Foundation Energy)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Cooling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Sealed cabinet + clip-on HVAC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t>Enclosure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IP55 target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r>
                        <a:t>Standards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IEC 61851, ISO 15118, OCPP 2.0.1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371600"/>
            <a:ext cx="4114800" cy="10515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l">
              <a:defRPr sz="1000" b="1">
                <a:solidFill>
                  <a:srgbClr val="708098"/>
                </a:solidFill>
                <a:latin typeface="Calibri"/>
              </a:defRPr>
            </a:pPr>
            <a:r>
              <a:t>EFFICIENCY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400" b="1">
                <a:solidFill>
                  <a:srgbClr val="0096E0"/>
                </a:solidFill>
                <a:latin typeface="Calibri"/>
              </a:defRPr>
            </a:pPr>
            <a:r>
              <a:t>&gt;96%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SiC MOSFETs throughout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06040"/>
            <a:ext cx="4114800" cy="10515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l">
              <a:defRPr sz="1000" b="1">
                <a:solidFill>
                  <a:srgbClr val="708098"/>
                </a:solidFill>
                <a:latin typeface="Calibri"/>
              </a:defRPr>
            </a:pPr>
            <a:r>
              <a:t>VOLTAGE RANGE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400" b="1">
                <a:solidFill>
                  <a:srgbClr val="0096E0"/>
                </a:solidFill>
                <a:latin typeface="Calibri"/>
              </a:defRPr>
            </a:pPr>
            <a:r>
              <a:t>150–1000V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400V + 800V EV compatible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40480"/>
            <a:ext cx="4114800" cy="10515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l">
              <a:defRPr sz="1000" b="1">
                <a:solidFill>
                  <a:srgbClr val="708098"/>
                </a:solidFill>
                <a:latin typeface="Calibri"/>
              </a:defRPr>
            </a:pPr>
            <a:r>
              <a:t>SCALABLE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400" b="1">
                <a:solidFill>
                  <a:srgbClr val="0096E0"/>
                </a:solidFill>
                <a:latin typeface="Calibri"/>
              </a:defRPr>
            </a:pPr>
            <a:r>
              <a:t>50–350 kW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Same platform, add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5074920"/>
            <a:ext cx="4114800" cy="10515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l">
              <a:defRPr sz="1000" b="1">
                <a:solidFill>
                  <a:srgbClr val="708098"/>
                </a:solidFill>
                <a:latin typeface="Calibri"/>
              </a:defRPr>
            </a:pPr>
            <a:r>
              <a:t>UPTIME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400" b="1">
                <a:solidFill>
                  <a:srgbClr val="0096E0"/>
                </a:solidFill>
                <a:latin typeface="Calibri"/>
              </a:defRPr>
            </a:pPr>
            <a:r>
              <a:t>&gt;98%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N+1 redundancy, hot-swap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4-Level Hierarchical Control with Domain-Isolated CAN Buses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858000" cy="4572000"/>
          </a:xfrm>
          <a:prstGeom prst="roundRect">
            <a:avLst>
              <a:gd name="adj" fmla="val 2000"/>
            </a:avLst>
          </a:prstGeom>
          <a:solidFill>
            <a:srgbClr val="0A1020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100" b="0">
                <a:solidFill>
                  <a:srgbClr val="80E080"/>
                </a:solidFill>
                <a:latin typeface="Courier New"/>
              </a:defRPr>
            </a:pPr>
            <a:r>
              <a:t>LEVEL 3: CLOUD / BACKEND</a:t>
            </a:r>
            <a:br/>
            <a:r>
              <a:t>  CSMS (OCPP 2.0.1)  ·  Fleet Management  ·  Billing</a:t>
            </a:r>
            <a:br/>
            <a:r>
              <a:t>           │ WebSocket / 4G / Ethernet</a:t>
            </a:r>
            <a:br/>
            <a:r>
              <a:t>LEVEL 2: STATION CONTROLLER</a:t>
            </a:r>
            <a:br/>
            <a:r>
              <a:t>  CM5 Main Controller (Linux + EVerest)</a:t>
            </a:r>
            <a:br/>
            <a:r>
              <a:t>  EvseManager · EnergyMgr · OCPP · Auth · ISO 15118</a:t>
            </a:r>
            <a:br/>
            <a:r>
              <a:t>  SafetySupervisorBSP · PowerModuleDriver · HvacDriver</a:t>
            </a:r>
            <a:br/>
            <a:r>
              <a:t>     │ CAN #2        │ CAN #1 (FD)      │ CAN #3</a:t>
            </a:r>
            <a:br/>
            <a:r>
              <a:t>LEVEL 1: MODULE CONTROLLERS</a:t>
            </a:r>
            <a:br/>
            <a:r>
              <a:t>  Safety Supv.    PDU-Micro Master      HVAC Unit</a:t>
            </a:r>
            <a:br/>
            <a:r>
              <a:t>  (STM32, SIL2)   (Module 0 PIM)       (STM32/RP2350)</a:t>
            </a:r>
            <a:br/>
            <a:r>
              <a:t>                   │  │  │  │</a:t>
            </a:r>
            <a:br/>
            <a:r>
              <a:t>                  M1  M2  M3  M4  (30kW each)</a:t>
            </a:r>
            <a:br/>
            <a:r>
              <a:t>LEVEL 0: HARDWARE</a:t>
            </a:r>
            <a:br/>
            <a:r>
              <a:t>  Gate Drivers · Sensors · Contactors · Actuators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 Principles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Safety-critical functions on dedicated STM32 (SIL 2) — never on Linux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Three independent CAN buses isolate safety, power, and thermal domains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Hardware interlock chain operates independently of all software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EVerest microservices communicate via MQTT — modular and testable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CM5 monitors safety but does NOT own the safety loop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PDU-Micro modules self-coordinate via droop-based current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Modular Power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5× 30 kW Hot-Swappable Modules — Scalable to 350 kW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2286000"/>
                <a:gridCol w="2377440"/>
              </a:tblGrid>
              <a:tr h="402336">
                <a:tc>
                  <a:txBody>
                    <a:bodyPr/>
                    <a:lstStyle/>
                    <a:p>
                      <a:r>
                        <a:t>Configuration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Modules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Power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BOM @100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BOM @500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Single CCS2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5× 30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$21,503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$19,486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Dual CCS2 (shared)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5× 30 kW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 kW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~$25,700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~$23,700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Single CCS2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10× 30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~$32,900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~$28,900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Dual CCS2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12× 30 kW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350 kW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~$36,900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~$32,900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657600"/>
            <a:ext cx="2651760" cy="18288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Hot-Swappable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Replace modules without powering down the entire system. Reduces MTTR to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2651760" cy="18288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N+1 Redundancy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Optional extra module ensures continued operation during single-module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2651760" cy="18288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Graceful Degradation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Module failure reduces power proportionally — charger stays operational at reduced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657600"/>
            <a:ext cx="2651760" cy="18288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Field-Scalable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Start at 150 kW, upgrade to 300 kW by adding modules. Same cabinet, same software.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Power Module — PDU-Micro (30 kW)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In-House Designed SiC Power Converter — Core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5943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51692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Specification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Rated Power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 kW continuous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PFC Topology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Vienna Rectifier, 140 kHz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DC-DC Topology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3-phase Interleaved DAB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SiC Devices (PFC)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MSCSM120VR1M16CTPAG module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SiC Devices (DAB)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MSC080SMA120B discrete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Output Voltage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150–1000 VDC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Output Current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 A per module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DC Bus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700–920 VDC (adaptive)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Dual dsPIC33CH512MP506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Communication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CAN-FD 500k/2M bps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Peak Efficiency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96.3% (system-level)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Rev 0.7, firmware in development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0" y="1280160"/>
            <a:ext cx="4480560" cy="9601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96E0"/>
                </a:solidFill>
                <a:latin typeface="Calibri"/>
              </a:defRPr>
            </a:pPr>
            <a:r>
              <a:t>$1,806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Unit Cost @100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423160"/>
            <a:ext cx="4480560" cy="9601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$1,436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Unit Cost @500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566160"/>
            <a:ext cx="4480560" cy="9601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96E0"/>
                </a:solidFill>
                <a:latin typeface="Calibri"/>
              </a:defRPr>
            </a:pPr>
            <a:r>
              <a:t>$60/kW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Cost per kW @100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709160"/>
            <a:ext cx="4480560" cy="9601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$48/kW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Cost per kW @500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1206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Top Cost Drivers: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DAB SiC MOSFETs — 23%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Vienna PFC module — 13.3%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PCB fabrication — 13%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Safety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Dual-Layer: Hardware Interlock Chain + SIL 2 Software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943600" cy="2926080"/>
          </a:xfrm>
          <a:prstGeom prst="roundRect">
            <a:avLst>
              <a:gd name="adj" fmla="val 2000"/>
            </a:avLst>
          </a:prstGeom>
          <a:solidFill>
            <a:srgbClr val="0A1020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000" b="0">
                <a:solidFill>
                  <a:srgbClr val="80E080"/>
                </a:solidFill>
                <a:latin typeface="Courier New"/>
              </a:defRPr>
            </a:pPr>
            <a:r>
              <a:t>+24V Safety Supply</a:t>
            </a:r>
            <a:br/>
            <a:r>
              <a:t>    │</a:t>
            </a:r>
            <a:br/>
            <a:r>
              <a:t>    ▼</a:t>
            </a:r>
            <a:br/>
            <a:r>
              <a:t>E-STOP (NC) ─── Door Interlock (NC) ─── IMD Contact (NC)</a:t>
            </a:r>
            <a:br/>
            <a:r>
              <a:t>    │                                         │</a:t>
            </a:r>
            <a:br/>
            <a:r>
              <a:t>RCD Contact (NC) ─── Thermal Trip (NC) ─── Safety Relay</a:t>
            </a:r>
            <a:br/>
            <a:r>
              <a:t>    │</a:t>
            </a:r>
            <a:br/>
            <a:r>
              <a:t>    ▼  OUTPUT:</a:t>
            </a:r>
            <a:br/>
            <a:r>
              <a:t>AC Contactor  ·  DC Contactor  ·  Pre-charge Relay</a:t>
            </a:r>
            <a:br/>
            <a:br/>
            <a:r>
              <a:t>ANY BREAK IN CHAIN = IMMEDIATE SHUTDOWN</a:t>
            </a:r>
            <a:br/>
            <a:r>
              <a:t>CM5/EVerest MONITORS but does NOT own the safety loop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28016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t>Protection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Over-Voltage (OVP)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1 µs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Hardware comparator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Over-Current (OCP)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1 ms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 supervisor ADC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Ground Fault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30 ms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IMD relay (Bender)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Insulation Failure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CableCheck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IMD measurement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CM5 Heartbeat Loss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s timeout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Orderly shutdown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Contactor Weld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Post-open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Aux NC + voltage verify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E-Stop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Immediate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Hardware loop break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480560"/>
            <a:ext cx="11064240" cy="54864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76200" wrap="square"/>
          <a:lstStyle/>
          <a:p>
            <a:pPr algn="l">
              <a:defRPr sz="1200" b="1">
                <a:solidFill>
                  <a:srgbClr val="0096E0"/>
                </a:solidFill>
                <a:latin typeface="Calibri"/>
              </a:defRPr>
            </a:pPr>
            <a:r>
              <a:t>States: INIT → IDLE → AC_CLOSE → PRECHARGE → DC_CLOSE → CHARGING → SHUTDOWN → 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Certification Target: IEC 61508 SIL 2 / ISO 13849 PLd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Dedicated STM32 bare-metal controller · MISRA C:2012 · &gt;90% branch coverage · FMEA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Software Stack — EVerest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Open-Source Charging OS — Linux Foundation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3200400"/>
          </a:xfrm>
          <a:prstGeom prst="roundRect">
            <a:avLst>
              <a:gd name="adj" fmla="val 2000"/>
            </a:avLst>
          </a:prstGeom>
          <a:solidFill>
            <a:srgbClr val="0A1020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000" b="0">
                <a:solidFill>
                  <a:srgbClr val="80E08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┌───────────────────────────────────────────┐</a:t>
            </a:r>
            <a:br/>
            <a:r>
              <a:t>│          APPLICATION LAYER                 │</a:t>
            </a:r>
            <a:br/>
            <a:r>
              <a:t>│  EvseManager · EnergyManager · Auth · OCPP │</a:t>
            </a:r>
            <a:br/>
            <a:r>
              <a:t>├───────────────────────────────────────────┤</a:t>
            </a:r>
            <a:br/>
            <a:r>
              <a:t>│          MIDDLEWARE LAYER                  │</a:t>
            </a:r>
            <a:br/>
            <a:r>
              <a:t>│  ISO 15118 · OCPP 2.0.1 · IEC 61851      │</a:t>
            </a:r>
            <a:br/>
            <a:r>
              <a:t>│  Safety State Machine                     │</a:t>
            </a:r>
            <a:br/>
            <a:r>
              <a:t>├───────────────────────────────────────────┤</a:t>
            </a:r>
            <a:br/>
            <a:r>
              <a:t>│     HARDWARE ABSTRACTION LAYER            │</a:t>
            </a:r>
            <a:br/>
            <a:r>
              <a:t>│  CAN · Ethernet · GPIO · UART · SPI       │</a:t>
            </a:r>
            <a:br/>
            <a:r>
              <a:t>├───────────────────────────────────────────┤</a:t>
            </a:r>
            <a:br/>
            <a:r>
              <a:t>│      LINUX OS (CM5: 4-core ARM, 4GB)      │</a:t>
            </a:r>
            <a:br/>
            <a:r>
              <a:t>└───────────────────────────────────────────┘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EVerest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$0 licensing — Apache 2.0 open source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Pre-built ISO 15118, OCPP, IEC 61851 stacks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Microservices via MQTT — independent processes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Linux Foundation Energy backing — major OEM support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Conformance-tested protocol implementations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Active community with regular releases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Custom EVerest Modules (Our 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356616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200" b="1">
                <a:solidFill>
                  <a:srgbClr val="0096E0"/>
                </a:solidFill>
                <a:latin typeface="Courier New"/>
              </a:defRPr>
            </a:pPr>
            <a:r>
              <a:t>SafetySupervisorBSP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0BCD0"/>
                </a:solidFill>
                <a:latin typeface="Calibri"/>
              </a:defRPr>
            </a:pPr>
            <a:r>
              <a:t>CAN #2 bridge to STM32</a:t>
            </a:r>
            <a:br/>
            <a:r>
              <a:t>evse_board_support, isolation_monitor, ac_rcd, connector_lock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5212080"/>
            <a:ext cx="356616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200" b="1">
                <a:solidFill>
                  <a:srgbClr val="0096E0"/>
                </a:solidFill>
                <a:latin typeface="Courier New"/>
              </a:defRPr>
            </a:pPr>
            <a:r>
              <a:t>PowerModuleDriver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0BCD0"/>
                </a:solidFill>
                <a:latin typeface="Calibri"/>
              </a:defRPr>
            </a:pPr>
            <a:r>
              <a:t>CAN-FD bridge to PDU-Micro master</a:t>
            </a:r>
            <a:br/>
            <a:r>
              <a:t>power_supply_DC, powermeter, module shedding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5212080"/>
            <a:ext cx="356616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200" b="1">
                <a:solidFill>
                  <a:srgbClr val="0096E0"/>
                </a:solidFill>
                <a:latin typeface="Courier New"/>
              </a:defRPr>
            </a:pPr>
            <a:r>
              <a:t>HvacDriver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0BCD0"/>
                </a:solidFill>
                <a:latin typeface="Calibri"/>
              </a:defRPr>
            </a:pPr>
            <a:r>
              <a:t>CAN #3 bridge to HVAC unit</a:t>
            </a:r>
            <a:br/>
            <a:r>
              <a:t>thermal_management, derating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Communication &amp; Protocol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Standards-Compliant Vehicle and Network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Vehicle Side (EV ↔ Charger)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920240"/>
              </a:tblGrid>
              <a:tr h="402336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Control Pilot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IEC 61851-1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Basic signaling (States A–F)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PLC (HomePlug GreenPHY)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ISO 15118-3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Physical layer for HLC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DIN SPEC 70121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DIN 70121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Legacy DC fast charging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ISO 15118-2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ISO 15118-2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Plug &amp; Charge, smart charging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Network Side (Charger ↔ Backend)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55448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286000"/>
              </a:tblGrid>
              <a:tr h="402336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OCPP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2.0.1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Remote monitoring, billing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TLS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1.2/1.3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Secure Plug &amp; Charge certs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MQTT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EVerest inter-module messaging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HTTP/REST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Diagnostic web UI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Internal Communication Buses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2062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393192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t>Bus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Path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CAN #1 (CAN-FD)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500k/2M bps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CM5 ↔ PDU-Micro modules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Power control &amp; telemetry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CAN #2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500 kbps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CM5 ↔ Safety Supervisor (STM32)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 state, contactor control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CAN #3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250 kbps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CM5 ↔ HVAC Unit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Thermal management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8098"/>
                </a:solidFill>
                <a:latin typeface="Calibri"/>
              </a:defRPr>
            </a:pPr>
            <a:r>
              <a:t>Connectivity:  Ethernet (LAN)  ·  5G Modem (WAN)  ·  WiFi (Service)  ·  PoE Switch  ·  PLC Modem (ISO 15118)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Thermal Management — Clip-On HVAC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Sealed Cabinet with External Heat Rejection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943600" cy="3474720"/>
          </a:xfrm>
          <a:prstGeom prst="roundRect">
            <a:avLst>
              <a:gd name="adj" fmla="val 2000"/>
            </a:avLst>
          </a:prstGeom>
          <a:solidFill>
            <a:srgbClr val="0A1020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000" b="0">
                <a:solidFill>
                  <a:srgbClr val="80E080"/>
                </a:solidFill>
                <a:latin typeface="Courier New"/>
              </a:defRPr>
            </a:pPr>
            <a:r>
              <a:t>  HVAC CLIP-ON UNIT              MAIN CABINET</a:t>
            </a:r>
            <a:br/>
            <a:r>
              <a:t>┌─────────────────┐           ┌─────────────────┐</a:t>
            </a:r>
            <a:br/>
            <a:r>
              <a:t>│ Condenser +     │           │ Power Modules    │</a:t>
            </a:r>
            <a:br/>
            <a:r>
              <a:t>│ Compressor      │           │ M1  M2  M3  M4   │</a:t>
            </a:r>
            <a:br/>
            <a:r>
              <a:t>│      │          │           │ M5                │</a:t>
            </a:r>
            <a:br/>
            <a:r>
              <a:t>│ Evaporator      │ Cold Air  │                   │</a:t>
            </a:r>
            <a:br/>
            <a:r>
              <a:t>│ Coil       ══════════════&gt;  │ Internal          │</a:t>
            </a:r>
            <a:br/>
            <a:r>
              <a:t>│      │          │           │ Heatsinks         │</a:t>
            </a:r>
            <a:br/>
            <a:r>
              <a:t>│ Blower Fans     │ Hot Air   │                   │</a:t>
            </a:r>
            <a:br/>
            <a:r>
              <a:t>│           &lt;══════════════   │ Hot Air Return    │</a:t>
            </a:r>
            <a:br/>
            <a:r>
              <a:t>│                 │           │                   │</a:t>
            </a:r>
            <a:br/>
            <a:r>
              <a:t>│ HVAC Controller │◄─CAN#3──►│ CM5 Main ECU      │</a:t>
            </a:r>
            <a:br/>
            <a:r>
              <a:t>└─────────────────┘           └─────────────────┘</a:t>
            </a:r>
            <a:br/>
            <a:br/>
            <a:r>
              <a:t>Internal air NEVER mixes with ambient → IP55 sealed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280160"/>
          <a:ext cx="4754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</a:tblGrid>
              <a:tr h="38862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Specification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Cooling Capacity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15–25 kW thermal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Airflow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2,000–4,000 CFM (variable)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Operating Range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-20°C to +50°C ambient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Refrigerant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R-410A or R-32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Mounting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Side, rear, or top clip-on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Interface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CAN bus + 24V power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Serviceability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Field-replaceable, single unit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01600"/>
          <a:lstStyle/>
          <a:p>
            <a:pPr algn="l">
              <a:defRPr sz="1200" b="1">
                <a:solidFill>
                  <a:srgbClr val="FF8F00"/>
                </a:solidFill>
                <a:latin typeface="Calibri"/>
              </a:defRPr>
            </a:pPr>
            <a:r>
              <a:t>THERMAL DERATING CHAIN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Cabinet temp rising → HVAC signals via CAN #3 → EnergyManager reduces output power → Prevents thermal shutdown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708098"/>
                </a:solidFill>
                <a:latin typeface="Calibri"/>
              </a:defRPr>
            </a:pPr>
            <a:r>
              <a:t>Modes: Idle → Pre-Cool → Active Cooling → Max Cooling → Derating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150 kW Class DC Fast Chargers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1920240"/>
                <a:gridCol w="1920240"/>
                <a:gridCol w="192024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Our Design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ABB Terra 184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Tritium PKM150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Delta UFC 150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Kempower S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Max Power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150 kW (to 350)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40–600 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Efficiency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&gt;96% (SiC)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~95%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&gt;94%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DC Output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150–1000V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150–920V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150–920V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200–1000V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50–920V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Max Current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500 A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 A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350 A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500 A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500 A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IP Rating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IP55 (target)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IP54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IP65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IP55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IP54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Software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EVerest (open)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Proprietary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Proprietary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Proprietary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Proprietary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SiC MOSFETs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Unconfirmed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Unconfirmed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Unconfirmed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Unconfirmed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OCPP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2.0.1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1.6J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1.6J / 2.0.1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1.5S / 1.6J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1.6J / 2.0.1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Est. Retail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$35K–40K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$40K–50K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$35K–45K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$30K–45K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$35K–50K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Our Differentiators: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» Open-source software — no vendor lock-in, no licensing fees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» SiC throughout — highest efficiency in class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» Full 1000V output — future-proofed for 800V EV wave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» Modular power — same platform scales 50–350 kW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» In-house power electronics — full control of cost and supply 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Bill of Materials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150 kW Single CCS2 — Component Cost @100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Power Modules (5×30 kW)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97000"/>
            <a:ext cx="5029200" cy="201168"/>
          </a:xfrm>
          <a:prstGeom prst="roundRect">
            <a:avLst>
              <a:gd name="adj" fmla="val 30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$10,087  (46.9%)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CCS Connector + Cable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81048"/>
            <a:ext cx="1083047" cy="201168"/>
          </a:xfrm>
          <a:prstGeom prst="roundRect">
            <a:avLst>
              <a:gd name="adj" fmla="val 30000"/>
            </a:avLst>
          </a:prstGeom>
          <a:solidFill>
            <a:srgbClr val="0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55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$2,180  (10.1%)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396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Cabinet and Enclosure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65096"/>
            <a:ext cx="1072324" cy="201168"/>
          </a:xfrm>
          <a:prstGeom prst="roundRect">
            <a:avLst>
              <a:gd name="adj" fmla="val 30000"/>
            </a:avLst>
          </a:prstGeom>
          <a:solidFill>
            <a:srgbClr val="0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39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$2,145  (10.0%)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23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DC Output Protection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549144"/>
            <a:ext cx="890028" cy="201168"/>
          </a:xfrm>
          <a:prstGeom prst="roundRect">
            <a:avLst>
              <a:gd name="adj" fmla="val 30000"/>
            </a:avLst>
          </a:prstGeom>
          <a:solidFill>
            <a:srgbClr val="0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23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$1,785  (8.3%)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HVAC Clip-On Unit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933192"/>
            <a:ext cx="857859" cy="201168"/>
          </a:xfrm>
          <a:prstGeom prst="roundRect">
            <a:avLst>
              <a:gd name="adj" fmla="val 30000"/>
            </a:avLst>
          </a:prstGeom>
          <a:solidFill>
            <a:srgbClr val="0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907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$1,720  (8.0%)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AC Input and Protection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317240"/>
            <a:ext cx="750626" cy="201168"/>
          </a:xfrm>
          <a:prstGeom prst="roundRect">
            <a:avLst>
              <a:gd name="adj" fmla="val 30000"/>
            </a:avLst>
          </a:prstGeom>
          <a:solidFill>
            <a:srgbClr val="708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291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$1,496  (7.0%)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758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Control Electronics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701288"/>
            <a:ext cx="364590" cy="201168"/>
          </a:xfrm>
          <a:prstGeom prst="roundRect">
            <a:avLst>
              <a:gd name="adj" fmla="val 30000"/>
            </a:avLst>
          </a:prstGeom>
          <a:solidFill>
            <a:srgbClr val="708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675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$730  (3.4%)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599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Cooling System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4085336"/>
            <a:ext cx="321697" cy="201168"/>
          </a:xfrm>
          <a:prstGeom prst="roundRect">
            <a:avLst>
              <a:gd name="adj" fmla="val 30000"/>
            </a:avLst>
          </a:prstGeom>
          <a:solidFill>
            <a:srgbClr val="708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059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$635  (3.0%)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43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Networking + Comms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469384"/>
            <a:ext cx="182295" cy="201168"/>
          </a:xfrm>
          <a:prstGeom prst="roundRect">
            <a:avLst>
              <a:gd name="adj" fmla="val 30000"/>
            </a:avLst>
          </a:prstGeom>
          <a:solidFill>
            <a:srgbClr val="708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443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$375  (1.7%)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User Interface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4853432"/>
            <a:ext cx="96509" cy="201168"/>
          </a:xfrm>
          <a:prstGeom prst="roundRect">
            <a:avLst>
              <a:gd name="adj" fmla="val 30000"/>
            </a:avLst>
          </a:prstGeom>
          <a:solidFill>
            <a:srgbClr val="708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828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$200  (0.9%)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Auxiliary PSU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237480"/>
            <a:ext cx="75062" cy="201168"/>
          </a:xfrm>
          <a:prstGeom prst="roundRect">
            <a:avLst>
              <a:gd name="adj" fmla="val 30000"/>
            </a:avLst>
          </a:prstGeom>
          <a:solidFill>
            <a:srgbClr val="708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5212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Calibri"/>
              </a:defRPr>
            </a:pPr>
            <a:r>
              <a:t>$150  (0.7%)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596128"/>
            <a:ext cx="502920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646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BOM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646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$21,503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566928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017520"/>
                <a:gridCol w="3017520"/>
              </a:tblGrid>
              <a:tr h="274320">
                <a:tc>
                  <a:txBody>
                    <a:bodyPr/>
                    <a:lstStyle/>
                    <a:p>
                      <a:r>
                        <a:t>Volume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BOM Cost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Target Retail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@100 units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$21,503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$35,000–40,000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40–46%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@500 units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$19,486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$30,000–35,000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35–44%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Cost Optimization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Path to Further BOM Reduction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017520"/>
                <a:gridCol w="3017520"/>
              </a:tblGrid>
              <a:tr h="426720">
                <a:tc>
                  <a:txBody>
                    <a:bodyPr/>
                    <a:lstStyle/>
                    <a:p>
                      <a:r>
                        <a:t>Initiative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Savings/Unit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Timeline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Chinese SiC alternatives (DAB MOSFETs)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$500–$650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Near-term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Volume pricing on COTS (CCS, contactors)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$1,000–$1,500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@500+ units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PCB panel optimization + assembly volume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$300–$500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@500+ units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Backplane redesign (simplified busbar)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$100–$200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Rev B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In-house HVAC manufacturing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$300–$500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Year 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11480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96E0"/>
                </a:solidFill>
                <a:latin typeface="Calibri"/>
              </a:defRPr>
            </a:pPr>
            <a:r>
              <a:t>$21,503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BOM @100 (Current)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11480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96E0"/>
                </a:solidFill>
                <a:latin typeface="Calibri"/>
              </a:defRPr>
            </a:pPr>
            <a:r>
              <a:t>$19,486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BOM @500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411480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$16,500–$17,500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Projected BOM @1000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4114800"/>
            <a:ext cx="2697480" cy="10058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~47%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708098"/>
                </a:solidFill>
                <a:latin typeface="Calibri"/>
              </a:defRPr>
            </a:pPr>
            <a:r>
              <a:t>Gross Margin @1000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27000"/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SOFTWARE COST ADVANTAGE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Competitors spend $2,000–$5,000 per unit on proprietary software licensing. Our EVerest-based stack has $0 per-unit software cost — a structural margin advantage at every volume.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Standards &amp; Certification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International Compliance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103120"/>
              </a:tblGrid>
              <a:tr h="384048"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IEC 61851-1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General EV charging requirements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Design phase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IEC 61851-23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DC charging station requirements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Design phase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IEC 62368-1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Electrical safety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Testing planned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IEC 61000-6-2/6-4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EMC (emissions + immunity)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Pre-compliance M11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ISO 15118-2/3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Vehicle-to-grid communication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EVerest pre-certified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ISO 13849 (PLd)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 of machinery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 supervisor design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IEC 61508 (SIL 2)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Functional safety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 supervisor design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OCPP 2.0.1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Charge point protocol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EVerest (libocpp) certified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UL 2202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 market certification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Planned for US launch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280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E0"/>
                </a:solidFill>
                <a:latin typeface="Calibri"/>
              </a:defRPr>
            </a:pPr>
            <a:r>
              <a:t>Certification Bodies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840480" cy="777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Europe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TÜV — CE, IEC 61851, EMC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836129097360"/>
            <a:ext cx="3840480" cy="777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North America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UL — UL 2202, NEC Art. 625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72256457360"/>
            <a:ext cx="3840480" cy="777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India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BIS — IS 17017 (planned)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508383817360"/>
            <a:ext cx="3840480" cy="777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China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CQC — GB/T standards (future)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3035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Testing Phases: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Type testing (electrical, EMC, safety)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Protocol conformance (CharIN, OCA)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Field testing (installation verification)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B0BCD0"/>
                </a:solidFill>
                <a:latin typeface="Calibri"/>
              </a:defRPr>
            </a:pPr>
            <a:r>
              <a:t>SIL 2 / PLd assessment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Development Plan — 14-Month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8 Parallel Workstreams to Certification-Ready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6565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7051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7537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022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8508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994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9965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0451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0937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1422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1908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92394" y="1143000"/>
            <a:ext cx="620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098"/>
                </a:solidFill>
                <a:latin typeface="Calibri"/>
              </a:defRPr>
            </a:pPr>
            <a:r>
              <a:t>M14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513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E0"/>
                </a:solidFill>
                <a:latin typeface="Calibri"/>
              </a:defRPr>
            </a:pPr>
            <a:r>
              <a:t>WS-1: </a:t>
            </a:r>
            <a:r>
              <a:rPr sz="1000">
                <a:solidFill>
                  <a:srgbClr val="B0BCD0"/>
                </a:solidFill>
                <a:latin typeface="Calibri"/>
              </a:rPr>
              <a:t>PDU-Micro Modules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1513840"/>
            <a:ext cx="6204857" cy="274320"/>
          </a:xfrm>
          <a:prstGeom prst="roundRect">
            <a:avLst>
              <a:gd name="adj" fmla="val 30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016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0AA"/>
                </a:solidFill>
                <a:latin typeface="Calibri"/>
              </a:defRPr>
            </a:pPr>
            <a:r>
              <a:t>WS-2: </a:t>
            </a:r>
            <a:r>
              <a:rPr sz="1000">
                <a:solidFill>
                  <a:srgbClr val="B0BCD0"/>
                </a:solidFill>
                <a:latin typeface="Calibri"/>
              </a:rPr>
              <a:t>CAN Protocol Bridge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6565" y="2016760"/>
            <a:ext cx="1861457" cy="274320"/>
          </a:xfrm>
          <a:prstGeom prst="roundRect">
            <a:avLst>
              <a:gd name="adj" fmla="val 30000"/>
            </a:avLst>
          </a:prstGeom>
          <a:solidFill>
            <a:srgbClr val="0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519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4040"/>
                </a:solidFill>
                <a:latin typeface="Calibri"/>
              </a:defRPr>
            </a:pPr>
            <a:r>
              <a:t>WS-3: </a:t>
            </a:r>
            <a:r>
              <a:rPr sz="1000">
                <a:solidFill>
                  <a:srgbClr val="B0BCD0"/>
                </a:solidFill>
                <a:latin typeface="Calibri"/>
              </a:rPr>
              <a:t>Safety Supervisor FW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2519680"/>
            <a:ext cx="3722914" cy="274320"/>
          </a:xfrm>
          <a:prstGeom prst="roundRect">
            <a:avLst>
              <a:gd name="adj" fmla="val 30000"/>
            </a:avLst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022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53"/>
                </a:solidFill>
                <a:latin typeface="Calibri"/>
              </a:defRPr>
            </a:pPr>
            <a:r>
              <a:t>WS-4: </a:t>
            </a:r>
            <a:r>
              <a:rPr sz="1000">
                <a:solidFill>
                  <a:srgbClr val="B0BCD0"/>
                </a:solidFill>
                <a:latin typeface="Calibri"/>
              </a:rPr>
              <a:t>EVerest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6565" y="3022600"/>
            <a:ext cx="5584371" cy="274320"/>
          </a:xfrm>
          <a:prstGeom prst="roundRect">
            <a:avLst>
              <a:gd name="adj" fmla="val 30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525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F00"/>
                </a:solidFill>
                <a:latin typeface="Calibri"/>
              </a:defRPr>
            </a:pPr>
            <a:r>
              <a:t>WS-5: </a:t>
            </a:r>
            <a:r>
              <a:rPr sz="1000">
                <a:solidFill>
                  <a:srgbClr val="B0BCD0"/>
                </a:solidFill>
                <a:latin typeface="Calibri"/>
              </a:rPr>
              <a:t>Cabinet 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525520"/>
            <a:ext cx="3722914" cy="274320"/>
          </a:xfrm>
          <a:prstGeom prst="roundRect">
            <a:avLst>
              <a:gd name="adj" fmla="val 30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028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060C0"/>
                </a:solidFill>
                <a:latin typeface="Calibri"/>
              </a:defRPr>
            </a:pPr>
            <a:r>
              <a:t>WS-6: </a:t>
            </a:r>
            <a:r>
              <a:rPr sz="1000">
                <a:solidFill>
                  <a:srgbClr val="B0BCD0"/>
                </a:solidFill>
                <a:latin typeface="Calibri"/>
              </a:rPr>
              <a:t>HVAC Controller FW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7051" y="4028440"/>
            <a:ext cx="3102428" cy="274320"/>
          </a:xfrm>
          <a:prstGeom prst="roundRect">
            <a:avLst>
              <a:gd name="adj" fmla="val 30000"/>
            </a:avLst>
          </a:prstGeom>
          <a:solidFill>
            <a:srgbClr val="8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531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080"/>
                </a:solidFill>
                <a:latin typeface="Calibri"/>
              </a:defRPr>
            </a:pPr>
            <a:r>
              <a:t>WS-7: </a:t>
            </a:r>
            <a:r>
              <a:rPr sz="1000">
                <a:solidFill>
                  <a:srgbClr val="B0BCD0"/>
                </a:solidFill>
                <a:latin typeface="Calibri"/>
              </a:rPr>
              <a:t>System Integration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8994" y="4531360"/>
            <a:ext cx="2481942" cy="274320"/>
          </a:xfrm>
          <a:prstGeom prst="roundRect">
            <a:avLst>
              <a:gd name="adj" fmla="val 30000"/>
            </a:avLst>
          </a:prstGeom>
          <a:solidFill>
            <a:srgbClr val="0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034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8000"/>
                </a:solidFill>
                <a:latin typeface="Calibri"/>
              </a:defRPr>
            </a:pPr>
            <a:r>
              <a:t>WS-8: </a:t>
            </a:r>
            <a:r>
              <a:rPr sz="1000">
                <a:solidFill>
                  <a:srgbClr val="B0BCD0"/>
                </a:solidFill>
                <a:latin typeface="Calibri"/>
              </a:rPr>
              <a:t>Certification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9965" y="5034280"/>
            <a:ext cx="3722914" cy="274320"/>
          </a:xfrm>
          <a:prstGeom prst="roundRect">
            <a:avLst>
              <a:gd name="adj" fmla="val 30000"/>
            </a:avLst>
          </a:prstGeom>
          <a:solidFill>
            <a:srgbClr val="C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5613400"/>
            <a:ext cx="11064240" cy="64008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E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l">
              <a:defRPr sz="1100" b="1">
                <a:solidFill>
                  <a:srgbClr val="E04040"/>
                </a:solidFill>
                <a:latin typeface="Calibri"/>
              </a:defRPr>
            </a:pPr>
            <a:r>
              <a:t>CRITICAL PATH:</a:t>
            </a:r>
            <a:r>
              <a:rPr sz="1100">
                <a:solidFill>
                  <a:srgbClr val="B0BCD0"/>
                </a:solidFill>
                <a:latin typeface="Calibri"/>
              </a:rPr>
              <a:t>  Module Firmware → CAN Bridge → EVerest Modules → System Integration → Certification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14-Month Execution Plan — Monthly Gate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937760"/>
                <a:gridCol w="4937760"/>
              </a:tblGrid>
              <a:tr h="419100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Gate Criteria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 supervisor board powered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CAN #2 loopback verified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M3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First PDU-Micro module producing DC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 kW output on bench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M4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CM5 running EVerest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SafetySupervisorBSP ↔ STM32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M5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PowerModuleDriver controlling 1 module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CAN-FD setpoint control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M6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Cabinet assembled, 5 modules installed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Backplane wired, mech fit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M7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HVAC clip-on operational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Thermal derating chain verified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M8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First complete charging session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ISO 15118 w/ EV simulator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M9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Full-power 150 kW sustained test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Thermal steady-state OK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M10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OCPP backend + HMI complete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Remote monitoring live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M11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EMC pre-compliance pass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EN 55032 Class B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M12–14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Certification testing complete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C853"/>
                          </a:solidFill>
                        </a:defRPr>
                      </a:pPr>
                      <a:r>
                        <a:t>IEC 61851, 62368, EMC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&amp; Resource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8–10 Engineers (3–4 Shared from Existing PDU-Micro Team)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188720"/>
                <a:gridCol w="6675120"/>
              </a:tblGrid>
              <a:tr h="38608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 Skills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Power Electronics Engineer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1–2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PDU-Micro hardware, magnetics, thermal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Embedded FW Engineer (Safety)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STM32, bare-metal C, MISRA C, IEC 61508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Embedded FW Engineer (Controls)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1–2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dsPIC33CH, power converter control loops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Linux/EVerest Software Engineer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1–2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C++, Linux, EVerest, SocketCAN, MQTT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Protocol Engineer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ISO 15118, OCPP 2.0.1, CAN bus, PLC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Electrical/Mechanical Engineer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Cabinet design, busbar, wiring, IP55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HVAC Engineer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Refrigeration, compressor (part-time)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t>QA / Certification Engineer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IEC 61851, IEC 62368, EMC, test planning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27000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Leverage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Existing PDU-Micro team provides power electronics and embedded firmware capability (3–4 engineers shared)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EVerest open-source community provides protocol stack support, bug fixes, and conformance testing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Standard industrial HVAC components — no custom refrigeration expertise needed full-time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Top Technical 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822960"/>
                <a:gridCol w="6400800"/>
              </a:tblGrid>
              <a:tr h="4267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Prob.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 marL="76200" marR="76200" marT="38100" marB="38100">
                    <a:solidFill>
                      <a:srgbClr val="0096E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PDU-Micro firmware delayed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E040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EVerest SIL simulation decouples CM5 work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CAN-FD adapter incompatibility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8F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Verify M1; PEAK PCAN-USB FD backup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ISO 15118 PLC modem EV compat.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8F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Test multiple EVs; DIN 70121 fallback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Safety SIL 2 assessment fails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8F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Engage assessor M3; design for SIL 2 upfront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Thermal mgmt insufficient @150kW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CCC0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Thermal budget validated; full-power test M9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OCPP 2.0.1 interop issues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CCC0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Multiple CSMS vendors; certified libocpp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Current sharing instability (5 mod)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CCC0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Droop sharing (proven); early bench test</a:t>
                      </a:r>
                    </a:p>
                  </a:txBody>
                  <a:tcPr marL="76200" marR="76200" marT="38100" marB="38100">
                    <a:solidFill>
                      <a:srgbClr val="1621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SiC supply chain disruption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CCC0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Dual-source; 6-month buffer stock</a:t>
                      </a:r>
                    </a:p>
                  </a:txBody>
                  <a:tcPr marL="76200" marR="76200" marT="38100" marB="38100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01600"/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RISK ASSESSMENT:</a:t>
            </a:r>
            <a:r>
              <a:rPr sz="1200">
                <a:solidFill>
                  <a:srgbClr val="B0BCD0"/>
                </a:solidFill>
                <a:latin typeface="Calibri"/>
              </a:rPr>
              <a:t>  All critical risks have identified mitigations. Highest-risk item (PDU-Micro schedule) is mitigated by software simulation decoupling. No show-stoppers identified.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Deployment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Three-Phase Market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11880" cy="36576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l">
              <a:defRPr sz="1600" b="1">
                <a:solidFill>
                  <a:srgbClr val="0096E0"/>
                </a:solidFill>
                <a:latin typeface="Calibri"/>
              </a:defRPr>
            </a:pPr>
            <a:r>
              <a:t>Phase 1: Pilot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708098"/>
                </a:solidFill>
                <a:latin typeface="Calibri"/>
              </a:defRPr>
            </a:pPr>
            <a:r>
              <a:t>Months 14–18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5–10 units at controlled sites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Fleet depots, partner locations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6-month field validation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Collect MTBF, reliability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OTA firmware updates via OCPP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11880" cy="36576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Phase 2: Regional Launch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708098"/>
                </a:solidFill>
                <a:latin typeface="Calibri"/>
              </a:defRPr>
            </a:pPr>
            <a:r>
              <a:t>Months 18–24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50–100 units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Highway corridors, urban hubs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CPO partner integrations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Dual-connector variant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OCPP backend SaaS offering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611880" cy="36576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l">
              <a:defRPr sz="1600" b="1">
                <a:solidFill>
                  <a:srgbClr val="FF8F00"/>
                </a:solidFill>
                <a:latin typeface="Calibri"/>
              </a:defRPr>
            </a:pPr>
            <a:r>
              <a:t>Phase 3: Scale Production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708098"/>
                </a:solidFill>
                <a:latin typeface="Calibri"/>
              </a:defRPr>
            </a:pPr>
            <a:r>
              <a:t>Year 2+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500+ units/year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300 kW and 350 kW variants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International certifications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In-house HVAC manufacturing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Multi-connector power-sharing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27000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REVENUE MODEL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Hardware Sales  ·  OCPP Backend SaaS (optional)  ·  Maintenance Contracts  ·  Extended Warranty  ·  Power Module Upgrades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Investment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8098"/>
                </a:solidFill>
                <a:latin typeface="Calibri"/>
              </a:defRPr>
            </a:pPr>
            <a:r>
              <a:t>Why Invest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l">
              <a:defRPr sz="1600" b="1">
                <a:solidFill>
                  <a:srgbClr val="0096E0"/>
                </a:solidFill>
                <a:latin typeface="Calibri"/>
              </a:defRPr>
            </a:pPr>
            <a:r>
              <a:t>Technical Readiness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30 kW SiC power module at Rev 0.7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Core power electronics IP developed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EVerest proven in production globally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Safety designed to SIL 2 from inception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Full documentation package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Cost Advantage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BOM: $21,500 @100 → $17,000 @1000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$0 per-unit software licensing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vs. $2K–$5K for competitors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Target gross margin: 40–47%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In-house design = supply chain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l">
              <a:defRPr sz="1600" b="1">
                <a:solidFill>
                  <a:srgbClr val="FF8F00"/>
                </a:solidFill>
                <a:latin typeface="Calibri"/>
              </a:defRPr>
            </a:pPr>
            <a:r>
              <a:t>Market Position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Only open-source SW + in-house HW DCFC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Highest efficiency in class (&gt;96% SiC)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Full 1000V — ready for 800V EV wave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One platform: 50–350 kW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No vendor lock-in for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2000"/>
            </a:avLst>
          </a:prstGeom>
          <a:solidFill>
            <a:srgbClr val="0A1A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tIns="152400"/>
          <a:lstStyle/>
          <a:p>
            <a:pPr algn="l">
              <a:defRPr sz="1800" b="1">
                <a:solidFill>
                  <a:srgbClr val="00C853"/>
                </a:solidFill>
                <a:latin typeface="Calibri"/>
              </a:defRPr>
            </a:pPr>
            <a:r>
              <a:t>THE ASK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14-month development to certification-ready prototype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8–10 person engineering team (3–4 shared from existing PDU-Micro team)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Pilot deployment of 5–10 units at Month 14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Path to 500+ units/year production by Year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